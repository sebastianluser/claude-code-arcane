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800" b="1">
                <a:solidFill>
                  <a:srgbClr val="F8FAFC"/>
                </a:solidFill>
                <a:latin typeface="Calibri"/>
              </a:rPr>
              <a:t>Arcane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37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E5E7EB"/>
                </a:solidFill>
                <a:latin typeface="Calibri"/>
              </a:rPr>
              <a:t>Un gestor de paquetes de configuracion para 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86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CA3C4"/>
                </a:solidFill>
                <a:latin typeface="Calibri"/>
              </a:rPr>
              <a:t>Instala solo las capacidades que tu proyecto necesita — con un comando.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46320"/>
            <a:ext cx="2468880" cy="123444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846320"/>
            <a:ext cx="91440" cy="123444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8FAFC"/>
                </a:solidFill>
                <a:latin typeface="Calibri"/>
              </a:rPr>
              <a:t>322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4846320"/>
            <a:ext cx="2468880" cy="123444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80" y="4846320"/>
            <a:ext cx="91440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498348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8FAFC"/>
                </a:solidFill>
                <a:latin typeface="Calibri"/>
              </a:rPr>
              <a:t>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5669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AGENTES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846320"/>
            <a:ext cx="2468880" cy="123444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846320"/>
            <a:ext cx="91440" cy="123444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98348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8FAFC"/>
                </a:solidFill>
                <a:latin typeface="Calibri"/>
              </a:rPr>
              <a:t>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669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PROFILES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4846320"/>
            <a:ext cx="2468880" cy="123444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4846320"/>
            <a:ext cx="91440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498348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8FAFC"/>
                </a:solidFill>
                <a:latin typeface="Calibri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5669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POR QUE EXISTE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El problema que resuelve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10698480" cy="9144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74519"/>
            <a:ext cx="91440" cy="91440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1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Configuracion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93391"/>
            <a:ext cx="7132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5E7EB"/>
                </a:solidFill>
                <a:latin typeface="Calibri"/>
              </a:rPr>
              <a:t>Copiar .claude/ a mano en cada proyecto: repetitivo y diverge con el tiempo.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926079"/>
            <a:ext cx="10698480" cy="9144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926079"/>
            <a:ext cx="91440" cy="91440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44951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Todo-o-nada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044951"/>
            <a:ext cx="7132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5E7EB"/>
                </a:solidFill>
                <a:latin typeface="Calibri"/>
              </a:rPr>
              <a:t>Un mega-repo cargaria las 322 skills en CADA proyecto: mas tokens, mas ruido, mas latencia.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977639"/>
            <a:ext cx="10698480" cy="9144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977639"/>
            <a:ext cx="91440" cy="91440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96511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Sin estandarizacion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096511"/>
            <a:ext cx="7132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5E7EB"/>
                </a:solidFill>
                <a:latin typeface="Calibri"/>
              </a:rPr>
              <a:t>Cada dev configura su Claude distinto. No hay fuente de verdad compartida.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029200"/>
            <a:ext cx="10698480" cy="9144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5029200"/>
            <a:ext cx="91440" cy="91440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48072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Sin actualizacion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148072"/>
            <a:ext cx="7132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5E7EB"/>
                </a:solidFill>
                <a:latin typeface="Calibri"/>
              </a:rPr>
              <a:t>Una mejora en una skill nunca llega a los proyectos que ya la copiaron.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172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Falta una forma modular, versionada y compartible de configurar Claude Code.</a:t>
            </a:r>
          </a:p>
        </p:txBody>
      </p:sp>
      <p:sp>
        <p:nvSpPr>
          <p:cNvPr id="23" name="Oval 22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LA IDEA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npm, pero para las capacidades de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E5E7EB"/>
                </a:solidFill>
                <a:latin typeface="Calibri"/>
              </a:rPr>
              <a:t>En vez de instalar librerias de codigo, instalas </a:t>
            </a:r>
            <a:r>
              <a:rPr sz="1700" b="1">
                <a:solidFill>
                  <a:srgbClr val="22D3EE"/>
                </a:solidFill>
                <a:latin typeface="Calibri"/>
              </a:rPr>
              <a:t>capacidades</a:t>
            </a:r>
            <a:r>
              <a:rPr sz="1700" b="0">
                <a:solidFill>
                  <a:srgbClr val="E5E7EB"/>
                </a:solidFill>
                <a:latin typeface="Calibri"/>
              </a:rPr>
              <a:t>: hacer commits, disenar APIs, correr un sprint, auditar seguridad — adaptadas a tu stack.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971800"/>
            <a:ext cx="10698480" cy="1371600"/>
          </a:xfrm>
          <a:prstGeom prst="roundRect">
            <a:avLst/>
          </a:prstGeom>
          <a:solidFill>
            <a:srgbClr val="141133"/>
          </a:solidFill>
          <a:ln w="19050">
            <a:solidFill>
              <a:srgbClr val="5B4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C4"/>
                </a:solidFill>
                <a:latin typeface="Calibri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2D3EE"/>
                </a:solidFill>
                <a:latin typeface="Calibri"/>
              </a:rPr>
              <a:t>$ </a:t>
            </a:r>
            <a:r>
              <a:rPr sz="2600" b="1">
                <a:solidFill>
                  <a:srgbClr val="F8FAFC"/>
                </a:solidFill>
                <a:latin typeface="Calibri"/>
              </a:rPr>
              <a:t>npx arcane install </a:t>
            </a:r>
            <a:r>
              <a:rPr sz="2600" b="1">
                <a:solidFill>
                  <a:srgbClr val="34D399"/>
                </a:solidFill>
                <a:latin typeface="Calibri"/>
              </a:rPr>
              <a:t>backend-ts</a:t>
            </a:r>
            <a:r>
              <a:rPr sz="2600" b="1">
                <a:solidFill>
                  <a:srgbClr val="FBBF24"/>
                </a:solidFill>
                <a:latin typeface="Calibri"/>
              </a:rPr>
              <a:t>+agile</a:t>
            </a:r>
            <a:r>
              <a:rPr sz="2600" b="1">
                <a:solidFill>
                  <a:srgbClr val="FBBF24"/>
                </a:solidFill>
                <a:latin typeface="Calibri"/>
              </a:rPr>
              <a:t>+testing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617720"/>
            <a:ext cx="2743200" cy="100584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7548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4D399"/>
                </a:solidFill>
                <a:latin typeface="Calibri"/>
              </a:rPr>
              <a:t>backend-ts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212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CA3C4"/>
                </a:solidFill>
                <a:latin typeface="Calibri"/>
              </a:rPr>
              <a:t>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85032" y="4617720"/>
            <a:ext cx="2743200" cy="100584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47548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BBF24"/>
                </a:solidFill>
                <a:latin typeface="Calibri"/>
              </a:rPr>
              <a:t>+agile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5212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CA3C4"/>
                </a:solidFill>
                <a:latin typeface="Calibri"/>
              </a:rPr>
              <a:t>ADDON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6832" y="4617720"/>
            <a:ext cx="2743200" cy="100584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47548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BBF24"/>
                </a:solidFill>
                <a:latin typeface="Calibri"/>
              </a:rPr>
              <a:t>+testing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5212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CA3C4"/>
                </a:solidFill>
                <a:latin typeface="Calibri"/>
              </a:rPr>
              <a:t>ADDON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897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base + addon + addon  -&gt;  solo lo que ESE proyecto necesita.</a:t>
            </a:r>
          </a:p>
        </p:txBody>
      </p:sp>
      <p:sp>
        <p:nvSpPr>
          <p:cNvPr id="20" name="Oval 19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Como funciona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10698480" cy="768096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029967"/>
            <a:ext cx="457200" cy="457200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20239"/>
            <a:ext cx="365760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Resuelve el contenido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920239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GitHub -&gt; cache local -&gt; bundled (funciona offline)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743200"/>
            <a:ext cx="10698480" cy="768096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2898648"/>
            <a:ext cx="457200" cy="457200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788920"/>
            <a:ext cx="365760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Carga core.yaml siempre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78892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21 skills base + 15 hooks + permisos de seguridad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11880"/>
            <a:ext cx="10698480" cy="768096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3767328"/>
            <a:ext cx="457200" cy="457200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657600"/>
            <a:ext cx="365760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Mergea los 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65760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Combina los profiles pedidos con 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480560"/>
            <a:ext cx="10698480" cy="768096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4636008"/>
            <a:ext cx="457200" cy="457200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526280"/>
            <a:ext cx="365760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Deduplica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52628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Un skill repetido se copia una sola vez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349240"/>
            <a:ext cx="10698480" cy="768096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6112" y="5504688"/>
            <a:ext cx="457200" cy="457200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394960"/>
            <a:ext cx="365760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Genera .claude/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539496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settings.json + manifest + skills, agents, rules, hooks</a:t>
            </a:r>
          </a:p>
        </p:txBody>
      </p:sp>
      <p:sp>
        <p:nvSpPr>
          <p:cNvPr id="26" name="Oval 25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SEPARACION DE RESPONSABILIDADES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Cuatro piezas, cuatro responsabilidades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5120640" cy="18288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74519"/>
            <a:ext cx="512064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22D3EE"/>
                </a:solidFill>
                <a:latin typeface="Calibri"/>
              </a:rPr>
              <a:t>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517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E5E7EB"/>
                </a:solidFill>
                <a:latin typeface="Calibri"/>
              </a:rPr>
              <a:t>Acciones que Claude ejecuta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154679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CA3C4"/>
                </a:solidFill>
                <a:latin typeface="Calibri"/>
              </a:rPr>
              <a:t>/commit  ·  /code-review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874519"/>
            <a:ext cx="5120640" cy="18288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1874519"/>
            <a:ext cx="5120640" cy="109728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1031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4FE8"/>
                </a:solidFill>
                <a:latin typeface="Calibri"/>
              </a:rPr>
              <a:t>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6517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E5E7EB"/>
                </a:solidFill>
                <a:latin typeface="Calibri"/>
              </a:rPr>
              <a:t>Personas que Claude adopta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79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CA3C4"/>
                </a:solidFill>
                <a:latin typeface="Calibri"/>
              </a:rPr>
              <a:t>backend-architect  ·  game-designer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886200"/>
            <a:ext cx="5120640" cy="18288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886200"/>
            <a:ext cx="5120640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114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4D399"/>
                </a:solidFill>
                <a:latin typeface="Calibri"/>
              </a:rPr>
              <a:t>Hooks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663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E5E7EB"/>
                </a:solidFill>
                <a:latin typeface="Calibri"/>
              </a:rPr>
              <a:t>Automatizacion invisible (eventos)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166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CA3C4"/>
                </a:solidFill>
                <a:latin typeface="Calibri"/>
              </a:rPr>
              <a:t>valida commits  ·  escanea secrets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3886200"/>
            <a:ext cx="5120640" cy="18288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86200"/>
            <a:ext cx="5120640" cy="1097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4114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BBF24"/>
                </a:solidFill>
                <a:latin typeface="Calibri"/>
              </a:rPr>
              <a:t>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663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E5E7EB"/>
                </a:solidFill>
                <a:latin typeface="Calibri"/>
              </a:rPr>
              <a:t>Estandares que Claude obedece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5166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CA3C4"/>
                </a:solidFill>
                <a:latin typeface="Calibri"/>
              </a:rPr>
              <a:t>"Clean architecture en backend"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989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Todo en Markdown + YAML: legible, diffeable en git, editable por cualquiera.</a:t>
            </a:r>
          </a:p>
        </p:txBody>
      </p:sp>
      <p:sp>
        <p:nvSpPr>
          <p:cNvPr id="27" name="Oval 26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DIFERENCIADORES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Por que Arcane gana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28800"/>
            <a:ext cx="5212080" cy="50292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62472" y="1828800"/>
            <a:ext cx="5349240" cy="50292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CA3C4"/>
                </a:solidFill>
                <a:latin typeface="Calibri"/>
              </a:rPr>
              <a:t>ALTERNATIVA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74519"/>
            <a:ext cx="4937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COMO GANA ARCANE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23160"/>
            <a:ext cx="5212080" cy="64008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62472" y="2423160"/>
            <a:ext cx="5349240" cy="64008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79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Config a mano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468879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8FAFC"/>
                </a:solidFill>
                <a:latin typeface="Calibri"/>
              </a:rPr>
              <a:t>Un comando, versionado, reproducible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154680"/>
            <a:ext cx="5212080" cy="64008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62472" y="3154680"/>
            <a:ext cx="5349240" cy="64008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Mega-repo monolitico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20040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8FAFC"/>
                </a:solidFill>
                <a:latin typeface="Calibri"/>
              </a:rPr>
              <a:t>Selectivo por profile + dedup (menos tokens)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886200"/>
            <a:ext cx="5212080" cy="64008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62472" y="3886200"/>
            <a:ext cx="5349240" cy="64008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3192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Copiar config entre proyectos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93192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8FAFC"/>
                </a:solidFill>
                <a:latin typeface="Calibri"/>
              </a:rPr>
              <a:t>Smart update con three-way merge (no pisa tus cambios)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617720"/>
            <a:ext cx="5212080" cy="64008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62472" y="4617720"/>
            <a:ext cx="5349240" cy="64008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Claude "vanilla"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66344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8FAFC"/>
                </a:solidFill>
                <a:latin typeface="Calibri"/>
              </a:rPr>
              <a:t>Hooks + rules + 86 agentes especializados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394959"/>
            <a:ext cx="10698480" cy="640080"/>
          </a:xfrm>
          <a:prstGeom prst="round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440679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Trata la configuracion de IA como software de primera clase: versionado, modular, testeable y distribuido.</a:t>
            </a:r>
          </a:p>
        </p:txBody>
      </p:sp>
      <p:sp>
        <p:nvSpPr>
          <p:cNvPr id="28" name="Oval 27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EVALUACION HONESTA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Trade-offs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28800"/>
            <a:ext cx="5212080" cy="420624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5212080" cy="548640"/>
          </a:xfrm>
          <a:prstGeom prst="roundRect">
            <a:avLst/>
          </a:prstGeom>
          <a:solidFill>
            <a:srgbClr val="14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FORTALEZAS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+  </a:t>
            </a:r>
            <a:r>
              <a:rPr sz="1350" b="0">
                <a:solidFill>
                  <a:srgbClr val="E5E7EB"/>
                </a:solidFill>
                <a:latin typeface="Calibri"/>
              </a:rPr>
              <a:t>Eficiencia de tokens (solo lo relevante)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+  </a:t>
            </a:r>
            <a:r>
              <a:rPr sz="1350" b="0">
                <a:solidFill>
                  <a:srgbClr val="E5E7EB"/>
                </a:solidFill>
                <a:latin typeface="Calibri"/>
              </a:rPr>
              <a:t>Un comando, cero friccion (npx)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03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+  </a:t>
            </a:r>
            <a:r>
              <a:rPr sz="1350" b="0">
                <a:solidFill>
                  <a:srgbClr val="E5E7EB"/>
                </a:solidFill>
                <a:latin typeface="Calibri"/>
              </a:rPr>
              <a:t>Reproducible (manifest = snapshot exacto)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5195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+  </a:t>
            </a:r>
            <a:r>
              <a:rPr sz="1350" b="0">
                <a:solidFill>
                  <a:srgbClr val="E5E7EB"/>
                </a:solidFill>
                <a:latin typeface="Calibri"/>
              </a:rPr>
              <a:t>Estandarizacion de equipo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0059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+  </a:t>
            </a:r>
            <a:r>
              <a:rPr sz="1350" b="0">
                <a:solidFill>
                  <a:srgbClr val="E5E7EB"/>
                </a:solidFill>
                <a:latin typeface="Calibri"/>
              </a:rPr>
              <a:t>Auto-actualizable sin pisar tus cambios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34923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+  </a:t>
            </a:r>
            <a:r>
              <a:rPr sz="1350" b="0">
                <a:solidFill>
                  <a:srgbClr val="E5E7EB"/>
                </a:solidFill>
                <a:latin typeface="Calibri"/>
              </a:rPr>
              <a:t>Testeable (framework skills-selftest)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1828800"/>
            <a:ext cx="5074920" cy="420624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6792" y="1828800"/>
            <a:ext cx="5074920" cy="548640"/>
          </a:xfrm>
          <a:prstGeom prst="roundRect">
            <a:avLst/>
          </a:prstGeom>
          <a:solidFill>
            <a:srgbClr val="4A3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19"/>
            <a:ext cx="4663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COSTOS / TRADE-OFFS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974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!  </a:t>
            </a:r>
            <a:r>
              <a:rPr sz="1350" b="0">
                <a:solidFill>
                  <a:srgbClr val="E5E7EB"/>
                </a:solidFill>
                <a:latin typeface="Calibri"/>
              </a:rPr>
              <a:t>Mantener 322 skills con calidad consistente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832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!  </a:t>
            </a:r>
            <a:r>
              <a:rPr sz="1350" b="0">
                <a:solidFill>
                  <a:srgbClr val="E5E7EB"/>
                </a:solidFill>
                <a:latin typeface="Calibri"/>
              </a:rPr>
              <a:t>Skills son prompts -&gt; no deterministas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0690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!  </a:t>
            </a:r>
            <a:r>
              <a:rPr sz="1350" b="0">
                <a:solidFill>
                  <a:srgbClr val="E5E7EB"/>
                </a:solidFill>
                <a:latin typeface="Calibri"/>
              </a:rPr>
              <a:t>Dependencia de la API de Claude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548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!  </a:t>
            </a:r>
            <a:r>
              <a:rPr sz="1350" b="0">
                <a:solidFill>
                  <a:srgbClr val="E5E7EB"/>
                </a:solidFill>
                <a:latin typeface="Calibri"/>
              </a:rPr>
              <a:t>Curva de aprendizaje para combinar profiles</a:t>
            </a:r>
          </a:p>
        </p:txBody>
      </p:sp>
      <p:sp>
        <p:nvSpPr>
          <p:cNvPr id="22" name="Oval 21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PRODUCTION-GRADE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8FAFC"/>
                </a:solidFill>
                <a:latin typeface="Calibri"/>
              </a:rPr>
              <a:t>No es un script: es infraestructura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65960"/>
            <a:ext cx="5120640" cy="128016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965960"/>
            <a:ext cx="91440" cy="1280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30552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Distribucion hibrida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587752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GitHub -&gt; cache -&gt; bundled. Funciona incluso offline.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965960"/>
            <a:ext cx="5120640" cy="128016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965960"/>
            <a:ext cx="91440" cy="1280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130552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Smart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587752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Three-way merge: actualiza sin pisar tus customizaciones.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429000"/>
            <a:ext cx="5120640" cy="128016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429000"/>
            <a:ext cx="91440" cy="1280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593592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Worktree-aware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050791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Comparte hooks/docs, copia skills por rama.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3429000"/>
            <a:ext cx="5120640" cy="128016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6792" y="3429000"/>
            <a:ext cx="91440" cy="1280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3593592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Auto-release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050791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semantic-release: conventional commits -&gt; publish a npm.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074920"/>
            <a:ext cx="10698480" cy="1188720"/>
          </a:xfrm>
          <a:prstGeom prst="round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8FAFC"/>
                </a:solidFill>
                <a:latin typeface="Calibri"/>
              </a:rPr>
              <a:t>Configuracion de IA, modular y versionada — un comando para empezar.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715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8FAFC"/>
                </a:solidFill>
                <a:latin typeface="Calibri"/>
              </a:rPr>
              <a:t>npx arcane install &lt;profile&gt;</a:t>
            </a:r>
          </a:p>
        </p:txBody>
      </p:sp>
      <p:sp>
        <p:nvSpPr>
          <p:cNvPr id="27" name="Oval 26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