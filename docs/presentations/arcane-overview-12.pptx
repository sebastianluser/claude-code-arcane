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28600" y="0"/>
            <a:ext cx="73152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2D3EE"/>
                </a:solidFill>
                <a:latin typeface="Calibri"/>
              </a:rPr>
              <a:t>CLAUDE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400" b="1">
                <a:solidFill>
                  <a:srgbClr val="F8FAFC"/>
                </a:solidFill>
                <a:latin typeface="Calibri"/>
              </a:rPr>
              <a:t>Arcane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12724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0">
                <a:solidFill>
                  <a:srgbClr val="E5E7EB"/>
                </a:solidFill>
                <a:latin typeface="Calibri"/>
              </a:rPr>
              <a:t>Un gestor de paquetes de configuracion para Claude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57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9CA3C4"/>
                </a:solidFill>
                <a:latin typeface="Calibri"/>
              </a:rPr>
              <a:t>Skills, agentes, hooks y reglas — instalados selectivamente por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526280"/>
            <a:ext cx="1938528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526280"/>
            <a:ext cx="82296" cy="128016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81728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8FAFC"/>
                </a:solidFill>
                <a:latin typeface="Calibri"/>
              </a:rPr>
              <a:t>322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938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4526280"/>
            <a:ext cx="1938528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4526280"/>
            <a:ext cx="82296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4681728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8FAFC"/>
                </a:solidFill>
                <a:latin typeface="Calibri"/>
              </a:rPr>
              <a:t>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5376672"/>
            <a:ext cx="1938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AGENTES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4526280"/>
            <a:ext cx="1938528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4526280"/>
            <a:ext cx="82296" cy="128016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4681728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8FAFC"/>
                </a:solidFill>
                <a:latin typeface="Calibri"/>
              </a:rPr>
              <a:t>29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5376672"/>
            <a:ext cx="1938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PROFILES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4526280"/>
            <a:ext cx="1938528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223760" y="4526280"/>
            <a:ext cx="82296" cy="12801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0" y="4681728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8FAFC"/>
                </a:solidFill>
                <a:latin typeface="Calibri"/>
              </a:rPr>
              <a:t>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376672"/>
            <a:ext cx="1938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RULES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0" y="4526280"/>
            <a:ext cx="1938528" cy="12801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26880" y="4526280"/>
            <a:ext cx="82296" cy="128016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4681728"/>
            <a:ext cx="19385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1">
                <a:solidFill>
                  <a:srgbClr val="F8FAFC"/>
                </a:solidFill>
                <a:latin typeface="Calibri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5376672"/>
            <a:ext cx="19385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22D3EE"/>
                </a:solidFill>
                <a:latin typeface="Calibri"/>
              </a:rPr>
              <a:t>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CA3C4"/>
                </a:solidFill>
                <a:latin typeface="Calibri"/>
              </a:rPr>
              <a:t>Presentacion tecnica + de negocio  ·  Educabot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RECORRIDO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Que vamos a ver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82880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792" y="19202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El problema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22402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Por que la config de Claude no escala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69748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69748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27889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La idea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64792" y="31089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npm, pero para capacidades de 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56616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" y="356616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3657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Arquitectura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64792" y="3977639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Como instala, mergea y deduplica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43484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43484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4526279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Las 4 piezas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48463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Skills, Agents, Hooks, Rules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30352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530352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5394959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Anatomia de una skill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571500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Frontmatter + markdown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36792" y="182880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65392" y="182880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88352" y="192024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Profiles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224028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El sistema de combinacion LEGO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36792" y="269748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65392" y="269748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78892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Mecanismos avanzados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88352" y="310896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Distribucion, update, worktrees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36792" y="356616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356616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8352" y="36576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Calidad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3977639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Testing automatizado de skills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36792" y="443484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65392" y="443484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352" y="4526279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Por que gana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8352" y="484632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vs. las alternativas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36792" y="5303520"/>
            <a:ext cx="534924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5303520"/>
            <a:ext cx="82296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5B4FE8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88352" y="5394959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22D3EE"/>
                </a:solidFill>
                <a:latin typeface="Calibri"/>
              </a:rPr>
              <a:t>Trade-offs y cierre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88352" y="5715000"/>
            <a:ext cx="4206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alibri"/>
              </a:rPr>
              <a:t>Honesto + casos reales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POR QUE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El problema que resuelve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10698480" cy="8686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828800"/>
            <a:ext cx="91440" cy="86868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920240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Configuracion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20240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Copiar .claude/ a mano en cada proyecto: repetitivo y diverge con el tiempo.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816352"/>
            <a:ext cx="10698480" cy="8686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" y="2816352"/>
            <a:ext cx="91440" cy="86868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07792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Todo-o-nada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907792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Un mega-repo cargaria las 322 skills en CADA proyecto: mas tokens, mas ruido, mas latencia.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803904"/>
            <a:ext cx="10698480" cy="8686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803904"/>
            <a:ext cx="91440" cy="86868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895344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Sin estandarizacion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3895344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Cada dev configura su Claude distinto. No hay fuente de verdad compartida.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791456"/>
            <a:ext cx="10698480" cy="86868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4791456"/>
            <a:ext cx="91440" cy="86868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82896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2D3EE"/>
                </a:solidFill>
                <a:latin typeface="Calibri"/>
              </a:rPr>
              <a:t>Sin actualizacion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882896"/>
            <a:ext cx="71323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Una mejora en una skill nunca llega a los proyectos que ya la copiaron.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59893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Falta una forma modular, versionada y compartible de configurar Claude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LA IDEA CENTRAL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npm, pero para las capacidades de Claude Code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8308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E5E7EB"/>
                </a:solidFill>
                <a:latin typeface="Calibri"/>
              </a:rPr>
              <a:t>En vez de instalar librerias de codigo, instalas </a:t>
            </a:r>
            <a:r>
              <a:rPr sz="1600" b="1">
                <a:solidFill>
                  <a:srgbClr val="22D3EE"/>
                </a:solidFill>
                <a:latin typeface="Calibri"/>
              </a:rPr>
              <a:t>capacidades</a:t>
            </a:r>
            <a:r>
              <a:rPr sz="1600" b="0">
                <a:solidFill>
                  <a:srgbClr val="E5E7EB"/>
                </a:solidFill>
                <a:latin typeface="Calibri"/>
              </a:rPr>
              <a:t>: hacer commits, disenar APIs, correr un sprint, auditar seguridad — adaptadas a tu stack.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88920"/>
            <a:ext cx="10698480" cy="1325880"/>
          </a:xfrm>
          <a:prstGeom prst="roundRect">
            <a:avLst/>
          </a:prstGeom>
          <a:solidFill>
            <a:srgbClr val="141133"/>
          </a:solidFill>
          <a:ln w="19050">
            <a:solidFill>
              <a:srgbClr val="5B4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4436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onsolas"/>
              </a:rPr>
              <a:t>terminal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10128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22D3EE"/>
                </a:solidFill>
                <a:latin typeface="Consolas"/>
              </a:rPr>
              <a:t>$ </a:t>
            </a:r>
            <a:r>
              <a:rPr sz="2400" b="1">
                <a:solidFill>
                  <a:srgbClr val="F8FAFC"/>
                </a:solidFill>
                <a:latin typeface="Consolas"/>
              </a:rPr>
              <a:t>npx arcane install </a:t>
            </a:r>
            <a:r>
              <a:rPr sz="2400" b="1">
                <a:solidFill>
                  <a:srgbClr val="34D399"/>
                </a:solidFill>
                <a:latin typeface="Consolas"/>
              </a:rPr>
              <a:t>backend-ts</a:t>
            </a:r>
            <a:r>
              <a:rPr sz="2400" b="1">
                <a:solidFill>
                  <a:srgbClr val="FBBF24"/>
                </a:solidFill>
                <a:latin typeface="Consolas"/>
              </a:rPr>
              <a:t>+agile</a:t>
            </a:r>
            <a:r>
              <a:rPr sz="2400" b="1">
                <a:solidFill>
                  <a:srgbClr val="FBBF24"/>
                </a:solidFill>
                <a:latin typeface="Consolas"/>
              </a:rPr>
              <a:t>+testing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343400"/>
            <a:ext cx="2743200" cy="96012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480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Calibri"/>
              </a:rPr>
              <a:t>backend-ts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9377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CA3C4"/>
                </a:solidFill>
                <a:latin typeface="Calibri"/>
              </a:rPr>
              <a:t>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85032" y="4343400"/>
            <a:ext cx="2743200" cy="96012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4480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Calibri"/>
              </a:rPr>
              <a:t>+agile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49377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CA3C4"/>
                </a:solidFill>
                <a:latin typeface="Calibri"/>
              </a:rPr>
              <a:t>ADDON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4343400"/>
            <a:ext cx="2743200" cy="96012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44805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Calibri"/>
              </a:rPr>
              <a:t>+testing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49377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CA3C4"/>
                </a:solidFill>
                <a:latin typeface="Calibri"/>
              </a:rPr>
              <a:t>ADDON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8FAFC"/>
                </a:solidFill>
                <a:latin typeface="Calibri"/>
              </a:rPr>
              <a:t>base + addon + addon  -&gt;  solo lo que ESE proyecto necesita.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Como funciona la instalacion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1069848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96112" y="1929384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819656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2D3EE"/>
                </a:solidFill>
                <a:latin typeface="Calibri"/>
              </a:rPr>
              <a:t>Resuelve el contenido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819656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GitHub -&gt; cache local -&gt; bundled (funciona offline)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633472"/>
            <a:ext cx="1069848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96112" y="2779776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2670048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2D3EE"/>
                </a:solidFill>
                <a:latin typeface="Calibri"/>
              </a:rPr>
              <a:t>Carga core.yaml siempre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670048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21 skills base + 15 hooks + permisos de seguridad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483864"/>
            <a:ext cx="1069848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96112" y="3630168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3520440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2D3EE"/>
                </a:solidFill>
                <a:latin typeface="Calibri"/>
              </a:rPr>
              <a:t>Mergea los profiles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3520440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Combina los profiles pedidos con el separador 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334256"/>
            <a:ext cx="1069848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96112" y="4480560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4370832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2D3EE"/>
                </a:solidFill>
                <a:latin typeface="Calibri"/>
              </a:rPr>
              <a:t>Deduplica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4370832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Un skill repetido en varios profiles se copia una sola vez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184648"/>
            <a:ext cx="10698480" cy="749808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6112" y="5330952"/>
            <a:ext cx="457200" cy="457200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8FAFC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221224"/>
            <a:ext cx="365760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22D3EE"/>
                </a:solidFill>
                <a:latin typeface="Calibri"/>
              </a:rPr>
              <a:t>Genera .claude/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5221224"/>
            <a:ext cx="5852160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settings.json + manifest + skills, agents, rules, hooks, docs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60350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9CA3C4"/>
                </a:solidFill>
                <a:latin typeface="Calibri"/>
              </a:rPr>
              <a:t>Resultado: el .claude/ del proyecto contiene exactamente lo necesario — nada mas.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SEPARACION DE RESPONSABILIDADES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Cuatro piezas, cuatro responsabilidades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5120640" cy="18288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5120640" cy="10972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98424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22D3EE"/>
                </a:solidFill>
                <a:latin typeface="Calibri"/>
              </a:rP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253288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Acciones que Claude ejecuta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0175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CA3C4"/>
                </a:solidFill>
                <a:latin typeface="Calibri"/>
              </a:rPr>
              <a:t>/commit  ·  /code-review  ·  /sprint-plan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1783080"/>
            <a:ext cx="5120640" cy="18288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36792" y="1783080"/>
            <a:ext cx="5120640" cy="109728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11112" y="198424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5B4FE8"/>
                </a:solidFill>
                <a:latin typeface="Calibri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253288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Personas que Claude adopta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301752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CA3C4"/>
                </a:solidFill>
                <a:latin typeface="Calibri"/>
              </a:rPr>
              <a:t>backend-architect  ·  game-designer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94760"/>
            <a:ext cx="5120640" cy="18288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3232" y="3794760"/>
            <a:ext cx="5120640" cy="109728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9959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34D399"/>
                </a:solidFill>
                <a:latin typeface="Calibri"/>
              </a:rPr>
              <a:t>Hooks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5445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Automatizacion invisible (eventos)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5029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CA3C4"/>
                </a:solidFill>
                <a:latin typeface="Calibri"/>
              </a:rPr>
              <a:t>valida commits  ·  escanea secrets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3794760"/>
            <a:ext cx="5120640" cy="18288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3794760"/>
            <a:ext cx="5120640" cy="1097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11112" y="399592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FBBF24"/>
                </a:solidFill>
                <a:latin typeface="Calibri"/>
              </a:rPr>
              <a:t>Rules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1112" y="454456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5E7EB"/>
                </a:solidFill>
                <a:latin typeface="Calibri"/>
              </a:rPr>
              <a:t>Estandares que Claude obedece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11112" y="502920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9CA3C4"/>
                </a:solidFill>
                <a:latin typeface="Calibri"/>
              </a:rPr>
              <a:t>"Clean architecture en backend"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58978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8FAFC"/>
                </a:solidFill>
                <a:latin typeface="Calibri"/>
              </a:rPr>
              <a:t>Todo en Markdown + YAML: legible, diffeable en git, editable por cualquiera.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Anatomia de una skill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6126480" cy="4160520"/>
          </a:xfrm>
          <a:prstGeom prst="roundRect">
            <a:avLst/>
          </a:prstGeom>
          <a:solidFill>
            <a:srgbClr val="141133"/>
          </a:solidFill>
          <a:ln w="15240">
            <a:solidFill>
              <a:srgbClr val="5B4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5760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CA3C4"/>
                </a:solidFill>
                <a:latin typeface="Consolas"/>
              </a:rPr>
              <a:t>skills/commit/SKILL.md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5760720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CA3C4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472B6"/>
                </a:solidFill>
                <a:latin typeface="Consolas"/>
              </a:rPr>
              <a:t>name:</a:t>
            </a:r>
            <a:r>
              <a:rPr sz="1250" b="0">
                <a:solidFill>
                  <a:srgbClr val="E5E7EB"/>
                </a:solidFill>
                <a:latin typeface="Consolas"/>
              </a:rPr>
              <a:t> commit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472B6"/>
                </a:solidFill>
                <a:latin typeface="Consolas"/>
              </a:rPr>
              <a:t>description:</a:t>
            </a:r>
            <a:r>
              <a:rPr sz="1250" b="0">
                <a:solidFill>
                  <a:srgbClr val="34D399"/>
                </a:solidFill>
                <a:latin typeface="Consolas"/>
              </a:rPr>
              <a:t> "Crea un commit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34D399"/>
                </a:solidFill>
                <a:latin typeface="Consolas"/>
              </a:rPr>
              <a:t>  siguiendo conventional commits..."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472B6"/>
                </a:solidFill>
                <a:latin typeface="Consolas"/>
              </a:rPr>
              <a:t>category:</a:t>
            </a:r>
            <a:r>
              <a:rPr sz="1250" b="0">
                <a:solidFill>
                  <a:srgbClr val="E5E7EB"/>
                </a:solidFill>
                <a:latin typeface="Consolas"/>
              </a:rPr>
              <a:t> workflow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472B6"/>
                </a:solidFill>
                <a:latin typeface="Consolas"/>
              </a:rPr>
              <a:t>user-invocable:</a:t>
            </a:r>
            <a:r>
              <a:rPr sz="1250" b="0">
                <a:solidFill>
                  <a:srgbClr val="FBBF24"/>
                </a:solidFill>
                <a:latin typeface="Consolas"/>
              </a:rPr>
              <a:t> true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472B6"/>
                </a:solidFill>
                <a:latin typeface="Consolas"/>
              </a:rPr>
              <a:t>allowed-tools:</a:t>
            </a:r>
            <a:r>
              <a:rPr sz="1250" b="0">
                <a:solidFill>
                  <a:srgbClr val="E5E7EB"/>
                </a:solidFill>
                <a:latin typeface="Consolas"/>
              </a:rPr>
              <a:t> Read, Bash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F472B6"/>
                </a:solidFill>
                <a:latin typeface="Consolas"/>
              </a:rPr>
              <a:t>model:</a:t>
            </a:r>
            <a:r>
              <a:rPr sz="1250" b="0">
                <a:solidFill>
                  <a:srgbClr val="E5E7EB"/>
                </a:solidFill>
                <a:latin typeface="Consolas"/>
              </a:rPr>
              <a:t> haiku</a:t>
            </a:r>
            <a:r>
              <a:rPr sz="1100" b="0">
                <a:solidFill>
                  <a:srgbClr val="9CA3C4"/>
                </a:solidFill>
                <a:latin typeface="Consolas"/>
              </a:rPr>
              <a:t>    # opcional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9CA3C4"/>
                </a:solidFill>
                <a:latin typeface="Consolas"/>
              </a:rPr>
              <a:t>---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>
                <a:solidFill>
                  <a:srgbClr val="9CA3C4"/>
                </a:solidFill>
                <a:latin typeface="Consolas"/>
              </a:rPr>
              <a:t/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D3EE"/>
                </a:solidFill>
                <a:latin typeface="Consolas"/>
              </a:rPr>
              <a:t>Review staged &amp; unstaged changes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D3EE"/>
                </a:solidFill>
                <a:latin typeface="Consolas"/>
              </a:rPr>
              <a:t>with git diff, suggest type/scope,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>
                <a:solidFill>
                  <a:srgbClr val="22D3EE"/>
                </a:solidFill>
                <a:latin typeface="Consolas"/>
              </a:rPr>
              <a:t>write a concise message...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1783080"/>
            <a:ext cx="4315968" cy="416052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0" y="196596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8FAFC"/>
                </a:solidFill>
                <a:latin typeface="Calibri"/>
              </a:rPr>
              <a:t>Dos partes: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4688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Frontmatter (YAML)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816352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5E7EB"/>
                </a:solidFill>
                <a:latin typeface="Calibri"/>
              </a:rPr>
              <a:t>Metadatos: nombre, tools permitidas, si es invocable, modelo a usar, agente asociado.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840480"/>
            <a:ext cx="3931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2D3EE"/>
                </a:solidFill>
                <a:latin typeface="Calibri"/>
              </a:rPr>
              <a:t>Cuerpo (Markdown)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4187952"/>
            <a:ext cx="3931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5E7EB"/>
                </a:solidFill>
                <a:latin typeface="Calibri"/>
              </a:rPr>
              <a:t>Las instrucciones en lenguaje natural que Claude sigue al invocar la skill.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5257800"/>
            <a:ext cx="3931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CA3C4"/>
                </a:solidFill>
                <a:latin typeface="Calibri"/>
              </a:rPr>
              <a:t>1 skill = 1 carpeta con un SKILL.md. Sin build, sin compilar.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EL SISTEMA LEGO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Profiles: combinar por stack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69164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Cada profile es un YAML que agrupa skills, agentes, reglas y permisos. Se combinan con </a:t>
            </a:r>
            <a:r>
              <a:rPr sz="1400" b="1">
                <a:solidFill>
                  <a:srgbClr val="FBBF24"/>
                </a:solidFill>
                <a:latin typeface="Calibri"/>
              </a:rPr>
              <a:t>+</a:t>
            </a:r>
            <a:r>
              <a:rPr sz="1350" b="0">
                <a:solidFill>
                  <a:srgbClr val="E5E7EB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286000"/>
            <a:ext cx="5212080" cy="27432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BASE  (elegis uno)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unity-dev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88036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1868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backend-ts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186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557016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backend-go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55701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95344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frontend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389534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3367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4233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57200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flutter / ios / android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5720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62472" y="2286000"/>
            <a:ext cx="5349240" cy="274320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42316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ADDONS  (combinas con +)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88036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+agile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88036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3218688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+testing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3218688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557016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+infra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557016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895344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+security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3895344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4233672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+marketing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4233672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44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4572000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E5E7EB"/>
                </a:solidFill>
                <a:latin typeface="Calibri"/>
              </a:rPr>
              <a:t>+clevel / +regulatory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32720" y="4572000"/>
            <a:ext cx="822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2D3EE"/>
                </a:solidFill>
                <a:latin typeface="Calibri"/>
              </a:rPr>
              <a:t>28 / 13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5212080"/>
            <a:ext cx="10698480" cy="77724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285232"/>
            <a:ext cx="10332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+ core (siempre): 21 skills universales + 15 hooks + seguridad.  </a:t>
            </a:r>
            <a:r>
              <a:rPr sz="1300" b="1">
                <a:solidFill>
                  <a:srgbClr val="22D3EE"/>
                </a:solidFill>
                <a:latin typeface="Calibri"/>
              </a:rPr>
              <a:t>Profiles combinados nunca duplican un skill.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PRODUCTION-GRADE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Mecanismos que lo elevan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5120640" cy="19659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" y="1783080"/>
            <a:ext cx="91440" cy="19659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8424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22D3EE"/>
                </a:solidFill>
                <a:latin typeface="Calibri"/>
              </a:rPr>
              <a:t>Distribucion hibrida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96312"/>
            <a:ext cx="45537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Resuelve el contenido en cadena: GitHub -&gt; cache local -&gt; bundled en npm. Funciona incluso sin conexion.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36792" y="1783080"/>
            <a:ext cx="5120640" cy="19659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36792" y="1783080"/>
            <a:ext cx="91440" cy="196596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984248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5B4FE8"/>
                </a:solidFill>
                <a:latin typeface="Calibri"/>
              </a:rPr>
              <a:t>Smart update (3-way merge)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96312"/>
            <a:ext cx="45537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Compara base / tu version / upstream. Actualiza lo no tocado, preserva tus cambios, avisa conflictos.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931920"/>
            <a:ext cx="5120640" cy="19659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" y="3931920"/>
            <a:ext cx="91440" cy="19659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133087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34D399"/>
                </a:solidFill>
                <a:latin typeface="Calibri"/>
              </a:rPr>
              <a:t>Worktree-aware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645152"/>
            <a:ext cx="45537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En git worktrees comparte hooks/ y docs/ (symlink), pero copia skills/ por rama (pueden divergir).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3931920"/>
            <a:ext cx="5120640" cy="196596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6792" y="3931920"/>
            <a:ext cx="91440" cy="196596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4133087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BBF24"/>
                </a:solidFill>
                <a:latin typeface="Calibri"/>
              </a:rPr>
              <a:t>Auto-release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4645152"/>
            <a:ext cx="455371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semantic-release lee los conventional commits: fix -&gt; patch, feat -&gt; minor. Publica a npm solo.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CONFIABILIDAD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Las skills se testean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7373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322 prompts hay que mantenerlos con calidad. Arcane trae un framework de QA self-contained: </a:t>
            </a:r>
            <a:r>
              <a:rPr sz="1350" b="1">
                <a:solidFill>
                  <a:srgbClr val="22D3EE"/>
                </a:solidFill>
                <a:latin typeface="Calibri"/>
              </a:rPr>
              <a:t>skills-selftest/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331720"/>
            <a:ext cx="10698480" cy="7772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2331720"/>
            <a:ext cx="91440" cy="7772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404872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34D399"/>
                </a:solidFill>
                <a:latin typeface="Consolas"/>
              </a:rPr>
              <a:t>/skill-test static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404872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Chequeo estructural: frontmatter valido, paths, tools declaradas.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3227832"/>
            <a:ext cx="10698480" cy="7772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3227832"/>
            <a:ext cx="91440" cy="7772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00984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2D3EE"/>
                </a:solidFill>
                <a:latin typeface="Consolas"/>
              </a:rPr>
              <a:t>/skill-test spec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300984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Evaluacion de comportamiento contra casos de prueba esperados.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123944"/>
            <a:ext cx="10698480" cy="7772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4123944"/>
            <a:ext cx="91440" cy="777240"/>
          </a:xfrm>
          <a:prstGeom prst="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97096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4FE8"/>
                </a:solidFill>
                <a:latin typeface="Consolas"/>
              </a:rPr>
              <a:t>/skill-test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197096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Reporte de cobertura: que skills tienen specs y cuales faltan.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5020056"/>
            <a:ext cx="10698480" cy="77724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5020056"/>
            <a:ext cx="91440" cy="7772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093208"/>
            <a:ext cx="32918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BBF24"/>
                </a:solidFill>
                <a:latin typeface="Consolas"/>
              </a:rPr>
              <a:t>/skill-improve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5093208"/>
            <a:ext cx="67665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5E7EB"/>
                </a:solidFill>
                <a:latin typeface="Calibri"/>
              </a:rPr>
              <a:t>Loop test -&gt; diagnostica -&gt; arregla -&gt; re-testea -&gt; mantiene o revierte.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59436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CA3C4"/>
                </a:solidFill>
                <a:latin typeface="Calibri"/>
              </a:rPr>
              <a:t>catalog.yaml = registro maestro  ·  quality-rubric.md = criterios pass/fail por categoria.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DIFERENCIADORES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Por que Arcane gana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5212080" cy="475488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62472" y="1783080"/>
            <a:ext cx="5349240" cy="475488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10512"/>
            <a:ext cx="48463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9CA3C4"/>
                </a:solidFill>
                <a:latin typeface="Calibri"/>
              </a:rPr>
              <a:t>ALTERNATIVA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10512"/>
            <a:ext cx="49377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COMO GANA ARCANE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2359152"/>
            <a:ext cx="5212080" cy="621792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62472" y="2359152"/>
            <a:ext cx="5349240" cy="621792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9572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Config a mano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95728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Un comando, versionado, reproducible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3072384"/>
            <a:ext cx="5212080" cy="621792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062472" y="3072384"/>
            <a:ext cx="5349240" cy="621792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10896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Mega-repo monolitico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108960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Selectivo por profile + dedup (menos tokens)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785616"/>
            <a:ext cx="5212080" cy="621792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62472" y="3785616"/>
            <a:ext cx="5349240" cy="621792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822192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Copiar config entre proyectos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822192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Smart update con three-way merge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498848"/>
            <a:ext cx="5212080" cy="621792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062472" y="4498848"/>
            <a:ext cx="5349240" cy="621792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5354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E5E7EB"/>
                </a:solidFill>
                <a:latin typeface="Calibri"/>
              </a:rPr>
              <a:t>Claude "vanilla"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535424"/>
            <a:ext cx="49377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8FAFC"/>
                </a:solidFill>
                <a:latin typeface="Calibri"/>
              </a:rPr>
              <a:t>Hooks + rules + 86 agentes especializados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5257800"/>
            <a:ext cx="10698480" cy="621792"/>
          </a:xfrm>
          <a:prstGeom prst="round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285232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8FAFC"/>
                </a:solidFill>
                <a:latin typeface="Calibri"/>
              </a:rPr>
              <a:t>Configuracion de IA tratada como software: versionada, modular, testeable y distribuida.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109728" cy="457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2D3EE"/>
                </a:solidFill>
                <a:latin typeface="Calibri"/>
              </a:rPr>
              <a:t>BALANCE Y 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84124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200" b="1">
                <a:solidFill>
                  <a:srgbClr val="F8FAFC"/>
                </a:solidFill>
                <a:latin typeface="Calibri"/>
              </a:rPr>
              <a:t>Trade-offs honestos</a:t>
            </a:r>
          </a:p>
        </p:txBody>
      </p:sp>
      <p:sp>
        <p:nvSpPr>
          <p:cNvPr id="6" name="Oval 5"/>
          <p:cNvSpPr/>
          <p:nvPr/>
        </p:nvSpPr>
        <p:spPr>
          <a:xfrm>
            <a:off x="11475720" y="6263640"/>
            <a:ext cx="384048" cy="384048"/>
          </a:xfrm>
          <a:prstGeom prst="ellipse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8FAFC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9CA3C4"/>
                </a:solidFill>
                <a:latin typeface="Calibri"/>
              </a:rPr>
              <a:t>Claude Code Arcane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783080"/>
            <a:ext cx="5212080" cy="278892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13232" y="1783080"/>
            <a:ext cx="5212080" cy="502920"/>
          </a:xfrm>
          <a:prstGeom prst="roundRect">
            <a:avLst/>
          </a:prstGeom>
          <a:solidFill>
            <a:srgbClr val="14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810512"/>
            <a:ext cx="4846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34D399"/>
                </a:solidFill>
                <a:latin typeface="Calibri"/>
              </a:rPr>
              <a:t>FORTALEZAS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+  </a:t>
            </a:r>
            <a:r>
              <a:rPr sz="1250" b="0">
                <a:solidFill>
                  <a:srgbClr val="E5E7EB"/>
                </a:solidFill>
                <a:latin typeface="Calibri"/>
              </a:rPr>
              <a:t>Eficiencia de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752344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+  </a:t>
            </a:r>
            <a:r>
              <a:rPr sz="1250" b="0">
                <a:solidFill>
                  <a:srgbClr val="E5E7EB"/>
                </a:solidFill>
                <a:latin typeface="Calibri"/>
              </a:rPr>
              <a:t>Un comando, cero friccion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089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+  </a:t>
            </a:r>
            <a:r>
              <a:rPr sz="1250" b="0">
                <a:solidFill>
                  <a:srgbClr val="E5E7EB"/>
                </a:solidFill>
                <a:latin typeface="Calibri"/>
              </a:rPr>
              <a:t>Reproducible (manifest)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465576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+  </a:t>
            </a:r>
            <a:r>
              <a:rPr sz="1250" b="0">
                <a:solidFill>
                  <a:srgbClr val="E5E7EB"/>
                </a:solidFill>
                <a:latin typeface="Calibri"/>
              </a:rPr>
              <a:t>Estandarizacion de equipo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822192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+  </a:t>
            </a:r>
            <a:r>
              <a:rPr sz="1250" b="0">
                <a:solidFill>
                  <a:srgbClr val="E5E7EB"/>
                </a:solidFill>
                <a:latin typeface="Calibri"/>
              </a:rPr>
              <a:t>Auto-update sin pisar cambios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178808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34D399"/>
                </a:solidFill>
                <a:latin typeface="Calibri"/>
              </a:rPr>
              <a:t>+  </a:t>
            </a:r>
            <a:r>
              <a:rPr sz="1250" b="0">
                <a:solidFill>
                  <a:srgbClr val="E5E7EB"/>
                </a:solidFill>
                <a:latin typeface="Calibri"/>
              </a:rPr>
              <a:t>Testeable (skills-selftest)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62472" y="1783080"/>
            <a:ext cx="5349240" cy="2788920"/>
          </a:xfrm>
          <a:prstGeom prst="roundRect">
            <a:avLst/>
          </a:prstGeom>
          <a:solidFill>
            <a:srgbClr val="2A2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62472" y="1783080"/>
            <a:ext cx="5349240" cy="502920"/>
          </a:xfrm>
          <a:prstGeom prst="roundRect">
            <a:avLst/>
          </a:prstGeom>
          <a:solidFill>
            <a:srgbClr val="4A39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1810512"/>
            <a:ext cx="4937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BBF24"/>
                </a:solidFill>
                <a:latin typeface="Calibri"/>
              </a:rPr>
              <a:t>COSTOS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1928" y="2395728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!  </a:t>
            </a:r>
            <a:r>
              <a:rPr sz="1250" b="0">
                <a:solidFill>
                  <a:srgbClr val="E5E7EB"/>
                </a:solidFill>
                <a:latin typeface="Calibri"/>
              </a:rPr>
              <a:t>Mantener 322 skills con calidad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2871216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!  </a:t>
            </a:r>
            <a:r>
              <a:rPr sz="1250" b="0">
                <a:solidFill>
                  <a:srgbClr val="E5E7EB"/>
                </a:solidFill>
                <a:latin typeface="Calibri"/>
              </a:rPr>
              <a:t>Skills = prompts -&gt; no deterministas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346704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!  </a:t>
            </a:r>
            <a:r>
              <a:rPr sz="1250" b="0">
                <a:solidFill>
                  <a:srgbClr val="E5E7EB"/>
                </a:solidFill>
                <a:latin typeface="Calibri"/>
              </a:rPr>
              <a:t>Depende de la API de 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1928" y="3822191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BBF24"/>
                </a:solidFill>
                <a:latin typeface="Calibri"/>
              </a:rPr>
              <a:t>!  </a:t>
            </a:r>
            <a:r>
              <a:rPr sz="1250" b="0">
                <a:solidFill>
                  <a:srgbClr val="E5E7EB"/>
                </a:solidFill>
                <a:latin typeface="Calibri"/>
              </a:rPr>
              <a:t>Curva: saber que profiles combinar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4800600"/>
            <a:ext cx="10698480" cy="1325880"/>
          </a:xfrm>
          <a:prstGeom prst="roundRect">
            <a:avLst/>
          </a:prstGeom>
          <a:solidFill>
            <a:srgbClr val="5B4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93776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8FAFC"/>
                </a:solidFill>
                <a:latin typeface="Calibri"/>
              </a:rPr>
              <a:t>Configuracion de IA, modular y versionada — un comando para empezar.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4406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>
                <a:solidFill>
                  <a:srgbClr val="F8FAFC"/>
                </a:solidFill>
                <a:latin typeface="Consolas"/>
              </a:rPr>
              <a:t>npx arcane install backend-ts+agile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